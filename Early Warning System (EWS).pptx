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71F79E7-9CF3-42F7-A1E4-2237646DDF57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6E1BB75-1613-44B7-8CE4-1F4327D7A00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Early</a:t>
            </a:r>
            <a:r>
              <a:rPr lang="ru-RU" dirty="0"/>
              <a:t> </a:t>
            </a:r>
            <a:r>
              <a:rPr lang="ru-RU" dirty="0" err="1"/>
              <a:t>Warning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(EWS)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Система раннего предупреждения проблемных кредитов</a:t>
            </a:r>
          </a:p>
        </p:txBody>
      </p:sp>
    </p:spTree>
    <p:extLst>
      <p:ext uri="{BB962C8B-B14F-4D97-AF65-F5344CB8AC3E}">
        <p14:creationId xmlns:p14="http://schemas.microsoft.com/office/powerpoint/2010/main" val="427848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Dataset &amp; Exploratory Data </a:t>
            </a:r>
            <a:r>
              <a:rPr lang="en-US" sz="4000" dirty="0" smtClean="0"/>
              <a:t>Analysis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Источник: </a:t>
            </a:r>
            <a:r>
              <a:rPr lang="en-US" dirty="0" err="1"/>
              <a:t>Kaggle</a:t>
            </a:r>
            <a:r>
              <a:rPr lang="en-US" dirty="0"/>
              <a:t> </a:t>
            </a:r>
            <a:endParaRPr lang="kk-KZ" dirty="0" smtClean="0"/>
          </a:p>
          <a:p>
            <a:r>
              <a:rPr lang="en-US" dirty="0" smtClean="0"/>
              <a:t>Credit </a:t>
            </a:r>
            <a:r>
              <a:rPr lang="en-US" dirty="0"/>
              <a:t>Risk Dataset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32 581 </a:t>
            </a:r>
            <a:r>
              <a:rPr lang="ru-RU" dirty="0"/>
              <a:t>записей</a:t>
            </a:r>
            <a:br>
              <a:rPr lang="ru-RU" dirty="0"/>
            </a:br>
            <a:r>
              <a:rPr lang="ru-RU" dirty="0"/>
              <a:t>12 исходных признаков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02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 исходных </a:t>
            </a:r>
            <a:r>
              <a:rPr lang="ru-RU" dirty="0" smtClean="0"/>
              <a:t>признаков: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498757"/>
              </p:ext>
            </p:extLst>
          </p:nvPr>
        </p:nvGraphicFramePr>
        <p:xfrm>
          <a:off x="655301" y="1600200"/>
          <a:ext cx="7833398" cy="4525963"/>
        </p:xfrm>
        <a:graphic>
          <a:graphicData uri="http://schemas.openxmlformats.org/drawingml/2006/table">
            <a:tbl>
              <a:tblPr/>
              <a:tblGrid>
                <a:gridCol w="3916699"/>
                <a:gridCol w="3916699"/>
              </a:tblGrid>
              <a:tr h="348151">
                <a:tc>
                  <a:txBody>
                    <a:bodyPr/>
                    <a:lstStyle/>
                    <a:p>
                      <a:endParaRPr lang="ru-RU" sz="1700" dirty="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700" dirty="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person_age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возраст клиента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person_income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доход клиента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person_home_ownership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тип жилья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person_emp_length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стаж работы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loan_intent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цель кредита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loan_grade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кредитный рейтинг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loan_amnt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сумма кредита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loan_int_rate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процентная ставка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loan_percent_income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доля кредита от дохода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cb_person_default_on_file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был ли дефолт ранее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/>
                        <a:t>cb_person_cred_hist_length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длина кредитной истории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8151">
                <a:tc>
                  <a:txBody>
                    <a:bodyPr/>
                    <a:lstStyle/>
                    <a:p>
                      <a:r>
                        <a:rPr lang="en-US" sz="1700" dirty="0" err="1"/>
                        <a:t>loan_status</a:t>
                      </a:r>
                      <a:endParaRPr lang="en-US" sz="1700" dirty="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статус кредита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84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1. </a:t>
            </a:r>
            <a:r>
              <a:rPr lang="en-US" dirty="0" err="1" smtClean="0"/>
              <a:t>debt_to_income</a:t>
            </a:r>
            <a:r>
              <a:rPr lang="kk-KZ" dirty="0" smtClean="0"/>
              <a:t> </a:t>
            </a:r>
            <a:r>
              <a:rPr lang="en-US" dirty="0" smtClean="0"/>
              <a:t>= </a:t>
            </a:r>
            <a:r>
              <a:rPr lang="en-US" dirty="0" err="1"/>
              <a:t>loan_amount</a:t>
            </a:r>
            <a:r>
              <a:rPr lang="en-US" dirty="0"/>
              <a:t> / </a:t>
            </a:r>
            <a:r>
              <a:rPr lang="en-US" dirty="0" smtClean="0"/>
              <a:t>income</a:t>
            </a:r>
            <a:r>
              <a:rPr lang="kk-KZ" dirty="0" smtClean="0"/>
              <a:t> (</a:t>
            </a:r>
            <a:r>
              <a:rPr lang="ru-RU" dirty="0" smtClean="0"/>
              <a:t>Показывает </a:t>
            </a:r>
            <a:r>
              <a:rPr lang="ru-RU" dirty="0"/>
              <a:t>долговую нагрузку клиента относительно его дохода</a:t>
            </a:r>
            <a:r>
              <a:rPr lang="kk-KZ" dirty="0"/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2. </a:t>
            </a:r>
            <a:r>
              <a:rPr lang="en-US" dirty="0" err="1" smtClean="0"/>
              <a:t>interest_pressure</a:t>
            </a:r>
            <a:r>
              <a:rPr lang="kk-KZ" dirty="0" smtClean="0"/>
              <a:t> </a:t>
            </a:r>
            <a:r>
              <a:rPr lang="en-US" dirty="0" smtClean="0"/>
              <a:t>= </a:t>
            </a:r>
            <a:r>
              <a:rPr lang="en-US" dirty="0" err="1"/>
              <a:t>interest_rate</a:t>
            </a:r>
            <a:r>
              <a:rPr lang="en-US" dirty="0"/>
              <a:t> / </a:t>
            </a:r>
            <a:r>
              <a:rPr lang="en-US" dirty="0" smtClean="0"/>
              <a:t>100</a:t>
            </a:r>
            <a:r>
              <a:rPr lang="kk-KZ" dirty="0" smtClean="0"/>
              <a:t> </a:t>
            </a:r>
            <a:r>
              <a:rPr lang="kk-KZ" dirty="0"/>
              <a:t>(</a:t>
            </a:r>
            <a:r>
              <a:rPr lang="ru-RU" dirty="0"/>
              <a:t>Отражает процентную нагрузку по кредиту.</a:t>
            </a:r>
            <a:r>
              <a:rPr lang="kk-KZ" dirty="0"/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3. </a:t>
            </a:r>
            <a:r>
              <a:rPr lang="en-US" dirty="0" err="1" smtClean="0"/>
              <a:t>credit_history_risk</a:t>
            </a:r>
            <a:r>
              <a:rPr lang="kk-KZ" dirty="0" smtClean="0"/>
              <a:t> </a:t>
            </a:r>
            <a:r>
              <a:rPr lang="en-US" dirty="0" smtClean="0"/>
              <a:t>= </a:t>
            </a:r>
            <a:r>
              <a:rPr lang="en-US" dirty="0"/>
              <a:t>1 / (</a:t>
            </a:r>
            <a:r>
              <a:rPr lang="en-US" dirty="0" err="1"/>
              <a:t>credit_history</a:t>
            </a:r>
            <a:r>
              <a:rPr lang="en-US" dirty="0"/>
              <a:t> + 1</a:t>
            </a:r>
            <a:r>
              <a:rPr lang="en-US" dirty="0" smtClean="0"/>
              <a:t>)</a:t>
            </a:r>
            <a:r>
              <a:rPr lang="kk-KZ" dirty="0" smtClean="0"/>
              <a:t> </a:t>
            </a:r>
            <a:r>
              <a:rPr lang="kk-KZ" dirty="0"/>
              <a:t>(</a:t>
            </a:r>
            <a:r>
              <a:rPr lang="ru-RU" dirty="0"/>
              <a:t>Отражает риск, связанный с длиной кредитной истории.</a:t>
            </a:r>
            <a:r>
              <a:rPr lang="kk-KZ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081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EWS </a:t>
            </a:r>
            <a:r>
              <a:rPr lang="ru-RU" dirty="0"/>
              <a:t>логика: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stable</a:t>
            </a:r>
            <a:r>
              <a:rPr lang="en-US" dirty="0"/>
              <a:t> </a:t>
            </a:r>
            <a:endParaRPr lang="kk-KZ" dirty="0" smtClean="0"/>
          </a:p>
          <a:p>
            <a:r>
              <a:rPr lang="en-US" dirty="0" err="1">
                <a:solidFill>
                  <a:srgbClr val="FFC000"/>
                </a:solidFill>
              </a:rPr>
              <a:t>risk_increasing</a:t>
            </a:r>
            <a:r>
              <a:rPr lang="en-US" dirty="0"/>
              <a:t> </a:t>
            </a:r>
            <a:endParaRPr lang="kk-KZ" dirty="0" smtClean="0"/>
          </a:p>
          <a:p>
            <a:r>
              <a:rPr lang="en-US" dirty="0" err="1">
                <a:solidFill>
                  <a:srgbClr val="FF0000"/>
                </a:solidFill>
              </a:rPr>
              <a:t>high_risk</a:t>
            </a:r>
            <a:r>
              <a:rPr lang="en-US" dirty="0"/>
              <a:t/>
            </a:r>
            <a:br>
              <a:rPr lang="en-US" dirty="0"/>
            </a:br>
            <a:endParaRPr lang="kk-KZ" dirty="0" smtClean="0"/>
          </a:p>
          <a:p>
            <a:endParaRPr lang="kk-KZ" dirty="0"/>
          </a:p>
          <a:p>
            <a:endParaRPr lang="kk-KZ" dirty="0" smtClean="0"/>
          </a:p>
          <a:p>
            <a:endParaRPr lang="kk-KZ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98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Модель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Random Forest Classifier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Результаты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Accuracy = 0.90</a:t>
            </a:r>
          </a:p>
          <a:p>
            <a:pPr marL="0" indent="0">
              <a:buNone/>
            </a:pPr>
            <a:r>
              <a:rPr lang="en-US" dirty="0"/>
              <a:t>F1-score = </a:t>
            </a:r>
            <a:r>
              <a:rPr lang="en-US" dirty="0" smtClean="0"/>
              <a:t>0.90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Обнаружена </a:t>
            </a:r>
            <a:r>
              <a:rPr lang="ru-RU" dirty="0"/>
              <a:t>и исправлена проблема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 smtClean="0"/>
              <a:t>Leakage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949280"/>
            <a:ext cx="43338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156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544540"/>
            <a:ext cx="4298946" cy="2126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0648"/>
            <a:ext cx="5632524" cy="4283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905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r>
              <a:rPr lang="en-US" dirty="0"/>
              <a:t>https://github.com/yessenamandiana-ux/ews-credit-risk</a:t>
            </a:r>
          </a:p>
          <a:p>
            <a:r>
              <a:rPr lang="en-US" dirty="0"/>
              <a:t>Live App:</a:t>
            </a:r>
          </a:p>
          <a:p>
            <a:r>
              <a:rPr lang="en-US" dirty="0"/>
              <a:t>https://ews-credit-risk-zhrp5quoccmyh3qsbv3caz.streamlit.app/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3991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/>
          <a:lstStyle/>
          <a:p>
            <a:r>
              <a:rPr lang="kk-KZ" sz="2400" dirty="0"/>
              <a:t>В</a:t>
            </a:r>
            <a:r>
              <a:rPr lang="kk-KZ" sz="2400" dirty="0" smtClean="0"/>
              <a:t>ыводы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20688"/>
            <a:ext cx="8579296" cy="60486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рамках данного проекта я применила знания из трека 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Machine Learning:</a:t>
            </a:r>
          </a:p>
          <a:p>
            <a:pPr marL="0" indent="0">
              <a:buNone/>
            </a:pPr>
            <a:endParaRPr lang="ru-RU" sz="10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Работа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 данными</a:t>
            </a:r>
          </a:p>
          <a:p>
            <a:pPr marL="0" indent="0">
              <a:buNone/>
            </a:pP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Pandas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05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NumPy</a:t>
            </a:r>
            <a:endParaRPr lang="en-US" sz="10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загрузка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обработка табличных данных </a:t>
            </a:r>
          </a:p>
          <a:p>
            <a:pPr marL="0" indent="0">
              <a:buNone/>
            </a:pP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работа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 пропущенными значениями </a:t>
            </a:r>
          </a:p>
          <a:p>
            <a:pPr marL="0" indent="0">
              <a:buNone/>
            </a:pP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преобразование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признаков </a:t>
            </a:r>
          </a:p>
          <a:p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EDA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анализ данных</a:t>
            </a:r>
          </a:p>
          <a:p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Исследовательский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анализ данных:</a:t>
            </a:r>
          </a:p>
          <a:p>
            <a:pPr marL="0" indent="0">
              <a:buNone/>
            </a:pP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структуры </a:t>
            </a:r>
            <a:r>
              <a:rPr lang="ru-RU" sz="105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датасета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распределения классов </a:t>
            </a:r>
          </a:p>
          <a:p>
            <a:pPr marL="0" indent="0">
              <a:buNone/>
            </a:pP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поиск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пропусков и аномалий </a:t>
            </a:r>
          </a:p>
          <a:p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Machine Learning</a:t>
            </a:r>
          </a:p>
          <a:p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Подготовка 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train/test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выборок:</a:t>
            </a: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Train=80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%, Test=20%Train = 80\%,\ Test = 20\%Train=80%, Test=20%</a:t>
            </a:r>
          </a:p>
          <a:p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Построение модели классификации</a:t>
            </a:r>
          </a:p>
          <a:p>
            <a:pPr marL="0" indent="0">
              <a:buNone/>
            </a:pP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Использована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модель</a:t>
            </a: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Random 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Forest</a:t>
            </a:r>
          </a:p>
          <a:p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Feature 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Engineering</a:t>
            </a:r>
          </a:p>
          <a:p>
            <a:pPr marL="0" indent="0">
              <a:buNone/>
            </a:pP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Создание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собственных бизнес-признаков:</a:t>
            </a:r>
          </a:p>
          <a:p>
            <a:pPr marL="0" indent="0">
              <a:buNone/>
            </a:pPr>
            <a:r>
              <a:rPr lang="en-US" sz="105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debt_to_income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interest_pressure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credit_history_risk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Оценка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качества модели</a:t>
            </a:r>
          </a:p>
          <a:p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Использование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метрик: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Accuracy = 0.90 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F1-score = 0.90 </a:t>
            </a:r>
          </a:p>
          <a:p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Работа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 качеством данных</a:t>
            </a:r>
          </a:p>
          <a:p>
            <a:pPr marL="0" indent="0">
              <a:buNone/>
            </a:pP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Обнаружение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исправление:</a:t>
            </a: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Data 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Leakage </a:t>
            </a:r>
          </a:p>
          <a:p>
            <a:pPr marL="0" indent="0">
              <a:buNone/>
            </a:pP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🖥 </a:t>
            </a: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Deployment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✅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Разработка интерфейса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Streamlit</a:t>
            </a:r>
            <a:endParaRPr lang="en-US" sz="10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✅ </a:t>
            </a:r>
            <a:r>
              <a:rPr lang="ru-RU" sz="10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Публикация проекта </a:t>
            </a:r>
            <a:r>
              <a:rPr lang="ru-RU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en-US" sz="10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10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10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99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205</TotalTime>
  <Words>175</Words>
  <Application>Microsoft Office PowerPoint</Application>
  <PresentationFormat>Экран (4:3)</PresentationFormat>
  <Paragraphs>83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Исполнительная</vt:lpstr>
      <vt:lpstr>Early Warning System (EWS) </vt:lpstr>
      <vt:lpstr>Dataset &amp; Exploratory Data Analysis</vt:lpstr>
      <vt:lpstr>12 исходных признаков:</vt:lpstr>
      <vt:lpstr>Feature Engineering</vt:lpstr>
      <vt:lpstr>EWS логика:</vt:lpstr>
      <vt:lpstr>Machine Learning Model</vt:lpstr>
      <vt:lpstr>Презентация PowerPoint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Warning System (EWS)</dc:title>
  <dc:creator>user</dc:creator>
  <cp:lastModifiedBy>user</cp:lastModifiedBy>
  <cp:revision>11</cp:revision>
  <dcterms:created xsi:type="dcterms:W3CDTF">2026-05-04T09:39:33Z</dcterms:created>
  <dcterms:modified xsi:type="dcterms:W3CDTF">2026-05-04T13:05:09Z</dcterms:modified>
</cp:coreProperties>
</file>